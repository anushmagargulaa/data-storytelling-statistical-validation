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C3C67-E02B-4C7F-864E-99CFE5DF6F75}" v="9" dt="2026-04-01T07:19:08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gula Anushma" userId="83371959ef9c1ac4" providerId="LiveId" clId="{19087FDB-ADF0-457A-9280-1D84EC539F8D}"/>
    <pc:docChg chg="custSel addSld delSld modSld sldOrd">
      <pc:chgData name="Gargula Anushma" userId="83371959ef9c1ac4" providerId="LiveId" clId="{19087FDB-ADF0-457A-9280-1D84EC539F8D}" dt="2026-04-01T07:19:53.225" v="214" actId="2696"/>
      <pc:docMkLst>
        <pc:docMk/>
      </pc:docMkLst>
      <pc:sldChg chg="del">
        <pc:chgData name="Gargula Anushma" userId="83371959ef9c1ac4" providerId="LiveId" clId="{19087FDB-ADF0-457A-9280-1D84EC539F8D}" dt="2026-04-01T07:10:55.541" v="1" actId="2696"/>
        <pc:sldMkLst>
          <pc:docMk/>
          <pc:sldMk cId="306819517" sldId="256"/>
        </pc:sldMkLst>
      </pc:sldChg>
      <pc:sldChg chg="modSp new mod">
        <pc:chgData name="Gargula Anushma" userId="83371959ef9c1ac4" providerId="LiveId" clId="{19087FDB-ADF0-457A-9280-1D84EC539F8D}" dt="2026-04-01T07:12:12.456" v="47" actId="20577"/>
        <pc:sldMkLst>
          <pc:docMk/>
          <pc:sldMk cId="1421173362" sldId="257"/>
        </pc:sldMkLst>
        <pc:spChg chg="mod">
          <ac:chgData name="Gargula Anushma" userId="83371959ef9c1ac4" providerId="LiveId" clId="{19087FDB-ADF0-457A-9280-1D84EC539F8D}" dt="2026-04-01T07:12:12.456" v="47" actId="20577"/>
          <ac:spMkLst>
            <pc:docMk/>
            <pc:sldMk cId="1421173362" sldId="257"/>
            <ac:spMk id="2" creationId="{0D750F87-229C-D1F9-6191-D1120061D680}"/>
          </ac:spMkLst>
        </pc:spChg>
        <pc:spChg chg="mod">
          <ac:chgData name="Gargula Anushma" userId="83371959ef9c1ac4" providerId="LiveId" clId="{19087FDB-ADF0-457A-9280-1D84EC539F8D}" dt="2026-04-01T07:11:33.031" v="14"/>
          <ac:spMkLst>
            <pc:docMk/>
            <pc:sldMk cId="1421173362" sldId="257"/>
            <ac:spMk id="3" creationId="{76236825-0D60-F936-F6A7-B8E16ABAC6AA}"/>
          </ac:spMkLst>
        </pc:spChg>
      </pc:sldChg>
      <pc:sldChg chg="modSp new mod">
        <pc:chgData name="Gargula Anushma" userId="83371959ef9c1ac4" providerId="LiveId" clId="{19087FDB-ADF0-457A-9280-1D84EC539F8D}" dt="2026-04-01T07:12:45.379" v="56" actId="20577"/>
        <pc:sldMkLst>
          <pc:docMk/>
          <pc:sldMk cId="115463812" sldId="258"/>
        </pc:sldMkLst>
        <pc:spChg chg="mod">
          <ac:chgData name="Gargula Anushma" userId="83371959ef9c1ac4" providerId="LiveId" clId="{19087FDB-ADF0-457A-9280-1D84EC539F8D}" dt="2026-04-01T07:12:02.501" v="29" actId="20577"/>
          <ac:spMkLst>
            <pc:docMk/>
            <pc:sldMk cId="115463812" sldId="258"/>
            <ac:spMk id="2" creationId="{C615F17D-DE70-3627-6B32-B1C62C038E88}"/>
          </ac:spMkLst>
        </pc:spChg>
        <pc:spChg chg="mod">
          <ac:chgData name="Gargula Anushma" userId="83371959ef9c1ac4" providerId="LiveId" clId="{19087FDB-ADF0-457A-9280-1D84EC539F8D}" dt="2026-04-01T07:12:45.379" v="56" actId="20577"/>
          <ac:spMkLst>
            <pc:docMk/>
            <pc:sldMk cId="115463812" sldId="258"/>
            <ac:spMk id="3" creationId="{51D32334-DA38-008A-A8C3-A6902410A61D}"/>
          </ac:spMkLst>
        </pc:spChg>
      </pc:sldChg>
      <pc:sldChg chg="modSp new mod">
        <pc:chgData name="Gargula Anushma" userId="83371959ef9c1ac4" providerId="LiveId" clId="{19087FDB-ADF0-457A-9280-1D84EC539F8D}" dt="2026-04-01T07:15:36.870" v="133" actId="20577"/>
        <pc:sldMkLst>
          <pc:docMk/>
          <pc:sldMk cId="1555206723" sldId="259"/>
        </pc:sldMkLst>
        <pc:spChg chg="mod">
          <ac:chgData name="Gargula Anushma" userId="83371959ef9c1ac4" providerId="LiveId" clId="{19087FDB-ADF0-457A-9280-1D84EC539F8D}" dt="2026-04-01T07:15:36.870" v="133" actId="20577"/>
          <ac:spMkLst>
            <pc:docMk/>
            <pc:sldMk cId="1555206723" sldId="259"/>
            <ac:spMk id="2" creationId="{9B61166B-4250-48C7-88D6-CF1B0EC0C19C}"/>
          </ac:spMkLst>
        </pc:spChg>
        <pc:spChg chg="mod">
          <ac:chgData name="Gargula Anushma" userId="83371959ef9c1ac4" providerId="LiveId" clId="{19087FDB-ADF0-457A-9280-1D84EC539F8D}" dt="2026-04-01T07:14:18.451" v="81" actId="20577"/>
          <ac:spMkLst>
            <pc:docMk/>
            <pc:sldMk cId="1555206723" sldId="259"/>
            <ac:spMk id="3" creationId="{4035ADF3-7D3D-305C-2EC5-6CCCA2F4E172}"/>
          </ac:spMkLst>
        </pc:spChg>
      </pc:sldChg>
      <pc:sldChg chg="modSp new mod ord">
        <pc:chgData name="Gargula Anushma" userId="83371959ef9c1ac4" providerId="LiveId" clId="{19087FDB-ADF0-457A-9280-1D84EC539F8D}" dt="2026-04-01T07:16:11.034" v="136"/>
        <pc:sldMkLst>
          <pc:docMk/>
          <pc:sldMk cId="3408416033" sldId="260"/>
        </pc:sldMkLst>
        <pc:spChg chg="mod">
          <ac:chgData name="Gargula Anushma" userId="83371959ef9c1ac4" providerId="LiveId" clId="{19087FDB-ADF0-457A-9280-1D84EC539F8D}" dt="2026-04-01T07:15:32.846" v="132" actId="20577"/>
          <ac:spMkLst>
            <pc:docMk/>
            <pc:sldMk cId="3408416033" sldId="260"/>
            <ac:spMk id="2" creationId="{31FF716D-2F5F-EFEF-A526-60C5CC6A3CB7}"/>
          </ac:spMkLst>
        </pc:spChg>
        <pc:spChg chg="mod">
          <ac:chgData name="Gargula Anushma" userId="83371959ef9c1ac4" providerId="LiveId" clId="{19087FDB-ADF0-457A-9280-1D84EC539F8D}" dt="2026-04-01T07:15:26.897" v="131" actId="20577"/>
          <ac:spMkLst>
            <pc:docMk/>
            <pc:sldMk cId="3408416033" sldId="260"/>
            <ac:spMk id="3" creationId="{5D862255-FB1A-F3B3-25B2-AF623CFF5E86}"/>
          </ac:spMkLst>
        </pc:spChg>
      </pc:sldChg>
      <pc:sldChg chg="modSp new mod">
        <pc:chgData name="Gargula Anushma" userId="83371959ef9c1ac4" providerId="LiveId" clId="{19087FDB-ADF0-457A-9280-1D84EC539F8D}" dt="2026-04-01T07:18:31.944" v="178" actId="20577"/>
        <pc:sldMkLst>
          <pc:docMk/>
          <pc:sldMk cId="2858444215" sldId="261"/>
        </pc:sldMkLst>
        <pc:spChg chg="mod">
          <ac:chgData name="Gargula Anushma" userId="83371959ef9c1ac4" providerId="LiveId" clId="{19087FDB-ADF0-457A-9280-1D84EC539F8D}" dt="2026-04-01T07:18:31.944" v="178" actId="20577"/>
          <ac:spMkLst>
            <pc:docMk/>
            <pc:sldMk cId="2858444215" sldId="261"/>
            <ac:spMk id="2" creationId="{3603E105-B18E-19E2-5EDB-41A324F41B1C}"/>
          </ac:spMkLst>
        </pc:spChg>
        <pc:spChg chg="mod">
          <ac:chgData name="Gargula Anushma" userId="83371959ef9c1ac4" providerId="LiveId" clId="{19087FDB-ADF0-457A-9280-1D84EC539F8D}" dt="2026-04-01T07:16:14.196" v="137"/>
          <ac:spMkLst>
            <pc:docMk/>
            <pc:sldMk cId="2858444215" sldId="261"/>
            <ac:spMk id="3" creationId="{E3F01054-D02F-2240-8F28-A8A058EA0613}"/>
          </ac:spMkLst>
        </pc:spChg>
      </pc:sldChg>
      <pc:sldChg chg="modSp new mod">
        <pc:chgData name="Gargula Anushma" userId="83371959ef9c1ac4" providerId="LiveId" clId="{19087FDB-ADF0-457A-9280-1D84EC539F8D}" dt="2026-04-01T07:18:46.571" v="190" actId="20577"/>
        <pc:sldMkLst>
          <pc:docMk/>
          <pc:sldMk cId="4117307579" sldId="262"/>
        </pc:sldMkLst>
        <pc:spChg chg="mod">
          <ac:chgData name="Gargula Anushma" userId="83371959ef9c1ac4" providerId="LiveId" clId="{19087FDB-ADF0-457A-9280-1D84EC539F8D}" dt="2026-04-01T07:18:46.571" v="190" actId="20577"/>
          <ac:spMkLst>
            <pc:docMk/>
            <pc:sldMk cId="4117307579" sldId="262"/>
            <ac:spMk id="2" creationId="{F408F894-E965-857C-CDEC-D363920B199F}"/>
          </ac:spMkLst>
        </pc:spChg>
        <pc:spChg chg="mod">
          <ac:chgData name="Gargula Anushma" userId="83371959ef9c1ac4" providerId="LiveId" clId="{19087FDB-ADF0-457A-9280-1D84EC539F8D}" dt="2026-04-01T07:17:56.724" v="166"/>
          <ac:spMkLst>
            <pc:docMk/>
            <pc:sldMk cId="4117307579" sldId="262"/>
            <ac:spMk id="3" creationId="{FFC1B8AC-8782-55B0-089C-26E7FD1E7E1E}"/>
          </ac:spMkLst>
        </pc:spChg>
      </pc:sldChg>
      <pc:sldChg chg="modSp new mod">
        <pc:chgData name="Gargula Anushma" userId="83371959ef9c1ac4" providerId="LiveId" clId="{19087FDB-ADF0-457A-9280-1D84EC539F8D}" dt="2026-04-01T07:19:17.491" v="212" actId="20577"/>
        <pc:sldMkLst>
          <pc:docMk/>
          <pc:sldMk cId="641525001" sldId="263"/>
        </pc:sldMkLst>
        <pc:spChg chg="mod">
          <ac:chgData name="Gargula Anushma" userId="83371959ef9c1ac4" providerId="LiveId" clId="{19087FDB-ADF0-457A-9280-1D84EC539F8D}" dt="2026-04-01T07:19:06.647" v="205" actId="20577"/>
          <ac:spMkLst>
            <pc:docMk/>
            <pc:sldMk cId="641525001" sldId="263"/>
            <ac:spMk id="2" creationId="{19824B0B-9C55-72F4-08C9-B32E370D9C89}"/>
          </ac:spMkLst>
        </pc:spChg>
        <pc:spChg chg="mod">
          <ac:chgData name="Gargula Anushma" userId="83371959ef9c1ac4" providerId="LiveId" clId="{19087FDB-ADF0-457A-9280-1D84EC539F8D}" dt="2026-04-01T07:19:17.491" v="212" actId="20577"/>
          <ac:spMkLst>
            <pc:docMk/>
            <pc:sldMk cId="641525001" sldId="263"/>
            <ac:spMk id="3" creationId="{ED67366F-3CB3-BAA9-5B7B-353D9E2B1DE9}"/>
          </ac:spMkLst>
        </pc:spChg>
      </pc:sldChg>
      <pc:sldChg chg="new del">
        <pc:chgData name="Gargula Anushma" userId="83371959ef9c1ac4" providerId="LiveId" clId="{19087FDB-ADF0-457A-9280-1D84EC539F8D}" dt="2026-04-01T07:19:53.225" v="214" actId="2696"/>
        <pc:sldMkLst>
          <pc:docMk/>
          <pc:sldMk cId="47760129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1344-1F61-9186-B8F1-5E708F82D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6B760-A5B2-E4E2-F1E1-D574749AB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6EDB7-E465-570C-5D57-E538D6FF8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4B4BA-7B71-B291-3C2D-87318B53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3905A-7E68-0129-E34C-8BF933BF8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40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B51E-0403-64BD-6DA5-DF012E70D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E564-D219-B1F0-4783-E41E5E7C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6FD45-E468-8C1B-F027-71E0C5AA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0C10B-FE97-AD1B-A7A3-476C4565E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369F9-AB69-87CF-CA7A-3545C51C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38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947B-BAF8-F801-8309-23A203B8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DECF2-0904-5944-1772-D53B2F9CC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BCBFA-59B3-EFEE-D2CE-94B20CA4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16633-14EA-B7C0-A6D4-45B149847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D59AD-84BD-E9DF-04AA-AED97CC9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17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2356-635C-1733-2FDC-1D1F8AF0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73E2-17F9-1A0C-8BF3-C7CC8D5EF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D8438-ECA5-A2A2-6F54-98C85B7C5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6E5F2-7EF2-1062-DE92-FC28D61F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8EAA4-9F90-0147-4C69-04013768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C6502-2590-CB09-9F11-5F66BAF9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3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5B893-2FA1-E55F-CDDB-04F03EA5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ECD61-2164-5F03-8E11-F2A5EE080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B7698-B24D-EC08-C35E-61956B0A7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9A2B0-1F92-94E6-C676-5E62BE73D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082A18-D5AE-73AB-4E75-3016DC51C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1E0954-E418-971A-608E-9C5451AA0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2B9B2-9C04-9138-BB79-2878A666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B15E6-5EAE-B7EA-B5E8-CD2B907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52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81BA-A031-1949-C201-D2162F44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8E262-BD20-97D4-B307-0648754C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9762C-4E98-8FE2-EBF8-D8EAE040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19E9E-BA3F-D3C5-C992-29532621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51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B4A35-EA96-9FFE-5690-188B11CE3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5086D-C87A-D371-3148-3C3094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F7A3D-D43F-E00D-8C3D-AAAC3DF1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19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9597-D4F4-70D4-5E10-07BD65F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FAC05-E9D5-6CEA-9DFF-D6715924F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8F855-18D5-3FAE-AE0C-B0C32C292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23231-7815-D354-A704-31FF581D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D5CDB-3F2A-F9CC-DDBB-CAE48514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6BA15-62EF-75A3-824A-13895635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880E-1933-A591-A0DC-EE56AACC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BA3044-A405-0488-D501-5EAAB18EF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B949A-861B-A9DF-9BBC-41625F150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555F4-C6A6-FB1A-D63A-E2686EC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DC8E8-9C71-55B7-CD62-C80FB102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DE363-5099-DC10-1178-0A0326CB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639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C0E8-E8FA-0231-D301-6FC9F44C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94A9A-8368-CFB7-1CCF-FC348D47A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FFB8D-5988-BA56-614F-58CDE547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8409C-9354-1899-6F36-66198AA6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77E77-D978-09E0-DBE6-A58580BA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14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2E89EC-20C4-726C-5F6E-6B0342545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1B2D3-545A-01A5-AA77-57F4AB1B2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FCFF-FB2A-D8A1-A2BE-7D4438C1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80D58-63F6-B954-210B-CAC05431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867B2-30C8-EAE4-9E2F-17584906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5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939054-AF2B-D6D8-49B3-5AC15060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26837-B71C-07ED-E1FD-05FA79975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342B5-FD48-05AF-CD39-7BEA8BB34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6C130-F0F0-433C-BCAC-65FDDDA6C07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FC06B-65DF-FCEC-7679-A7DE3AEDF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88C74-F2C0-BA5D-F59C-B8ADE233B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8AB12-2305-4226-A1CB-3C580DEA50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20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0F87-229C-D1F9-6191-D1120061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OBJECTIVE: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6825-0D60-F936-F6A7-B8E16ABAC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project is to analyze sales data to understand business performance, identify key trends, and provide insights that can help improve revenue and decision-making.</a:t>
            </a:r>
          </a:p>
          <a:p>
            <a:endParaRPr lang="en-US" dirty="0"/>
          </a:p>
          <a:p>
            <a:r>
              <a:rPr lang="en-US" dirty="0"/>
              <a:t>This analysis focuses on understanding which products, regions, and customer segments contribute most to sales.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173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F17D-DE70-3627-6B32-B1C62C038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STORY: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32334-DA38-008A-A8C3-A6902410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dataset consists of 9800 sales transactions.</a:t>
            </a:r>
          </a:p>
          <a:p>
            <a:endParaRPr lang="en-US" dirty="0"/>
          </a:p>
          <a:p>
            <a:r>
              <a:rPr lang="en-US" dirty="0"/>
              <a:t>It includes the following information:</a:t>
            </a:r>
          </a:p>
          <a:p>
            <a:r>
              <a:rPr lang="en-US" dirty="0"/>
              <a:t>Order Date and Ship Date  </a:t>
            </a:r>
          </a:p>
          <a:p>
            <a:r>
              <a:rPr lang="en-US" dirty="0"/>
              <a:t>Product Category and Sub-Category  </a:t>
            </a:r>
          </a:p>
          <a:p>
            <a:r>
              <a:rPr lang="en-US" dirty="0"/>
              <a:t> Customer Segment  </a:t>
            </a:r>
          </a:p>
          <a:p>
            <a:r>
              <a:rPr lang="en-US" dirty="0"/>
              <a:t> Region and Location  </a:t>
            </a:r>
          </a:p>
          <a:p>
            <a:r>
              <a:rPr lang="en-US" dirty="0"/>
              <a:t> Sales values  </a:t>
            </a:r>
          </a:p>
          <a:p>
            <a:endParaRPr lang="en-US" dirty="0"/>
          </a:p>
          <a:p>
            <a:r>
              <a:rPr lang="en-US" dirty="0"/>
              <a:t>This data helps in analyzing customer behavior and business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463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166B-4250-48C7-88D6-CF1B0EC0C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ADF3-7D3D-305C-2EC5-6CCCA2F4E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following steps were performed in this analysis:</a:t>
            </a:r>
          </a:p>
          <a:p>
            <a:endParaRPr lang="en-US" dirty="0"/>
          </a:p>
          <a:p>
            <a:r>
              <a:rPr lang="en-US" dirty="0"/>
              <a:t> Data cleaning to handle missing values and inconsistencies  </a:t>
            </a:r>
          </a:p>
          <a:p>
            <a:r>
              <a:rPr lang="en-US" dirty="0"/>
              <a:t>Calculation of key performance indicators (KPIs)  </a:t>
            </a:r>
          </a:p>
          <a:p>
            <a:r>
              <a:rPr lang="en-US" dirty="0"/>
              <a:t> Exploratory data analysis (EDA) to identify trends  </a:t>
            </a:r>
          </a:p>
          <a:p>
            <a:r>
              <a:rPr lang="en-US" dirty="0"/>
              <a:t>Segmentation analysis based on category, region, and customer segment  </a:t>
            </a:r>
          </a:p>
          <a:p>
            <a:r>
              <a:rPr lang="en-US" dirty="0"/>
              <a:t>Creation of an interactive dashboard for visualization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520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716D-2F5F-EFEF-A526-60C5CC6A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en-IN" dirty="0"/>
              <a:t>EY FINDINGS: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62255-FB1A-F3B3-25B2-AF623CFF5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analysis revealed the following key findings:</a:t>
            </a:r>
          </a:p>
          <a:p>
            <a:endParaRPr lang="en-US" dirty="0"/>
          </a:p>
          <a:p>
            <a:r>
              <a:rPr lang="en-US" dirty="0"/>
              <a:t>Technology category generates the highest sales among all categories  </a:t>
            </a:r>
          </a:p>
          <a:p>
            <a:r>
              <a:rPr lang="en-US" dirty="0"/>
              <a:t>The West region contributes the most revenue compared to other regions  </a:t>
            </a:r>
          </a:p>
          <a:p>
            <a:r>
              <a:rPr lang="en-US" dirty="0"/>
              <a:t> The Consumer segment accounts for the highest number of purchases  </a:t>
            </a:r>
          </a:p>
          <a:p>
            <a:r>
              <a:rPr lang="en-US" dirty="0"/>
              <a:t> Some categories and regions show lower performance and need improvement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41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E105-B18E-19E2-5EDB-41A324F4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INTERPRETATION: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1054-D02F-2240-8F28-A8A058EA0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findings indicate that the business relies heavily on specific categories and regions for revenue.</a:t>
            </a:r>
          </a:p>
          <a:p>
            <a:endParaRPr lang="en-US" dirty="0"/>
          </a:p>
          <a:p>
            <a:r>
              <a:rPr lang="en-US" dirty="0"/>
              <a:t>High-performing segments are driving the majority of sales, while other segments present opportunities for growth.</a:t>
            </a:r>
          </a:p>
          <a:p>
            <a:endParaRPr lang="en-US" dirty="0"/>
          </a:p>
          <a:p>
            <a:r>
              <a:rPr lang="en-US" dirty="0"/>
              <a:t>Understanding these patterns can help in making better strategic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844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F894-E965-857C-CDEC-D363920B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CONCLUSION: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1B8AC-8782-55B0-089C-26E7FD1E7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analysis shows that revenue is not evenly distributed across all categories and regions.</a:t>
            </a:r>
          </a:p>
          <a:p>
            <a:endParaRPr lang="en-US" dirty="0"/>
          </a:p>
          <a:p>
            <a:r>
              <a:rPr lang="en-US" dirty="0"/>
              <a:t>A few key areas contribute significantly to overall performance, highlighting the importance of focusing on high-performing segments.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307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4B0B-9C55-72F4-08C9-B32E370D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TO ACTION: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366F-3CB3-BAA9-5B7B-353D9E2B1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analysis, the following actions are recommended:</a:t>
            </a:r>
          </a:p>
          <a:p>
            <a:endParaRPr lang="en-US" dirty="0"/>
          </a:p>
          <a:p>
            <a:r>
              <a:rPr lang="en-US" dirty="0"/>
              <a:t>Increase marketing efforts for high-performing categories like Technology  </a:t>
            </a:r>
          </a:p>
          <a:p>
            <a:r>
              <a:rPr lang="en-US" dirty="0"/>
              <a:t>Expand business operations in top-performing regions such as the West  </a:t>
            </a:r>
          </a:p>
          <a:p>
            <a:r>
              <a:rPr lang="en-US" dirty="0"/>
              <a:t> Improve strategies for low-performing categories and regions  </a:t>
            </a:r>
          </a:p>
          <a:p>
            <a:r>
              <a:rPr lang="en-US" dirty="0"/>
              <a:t> Focus on high-value customer segments to maximize revenue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52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OBJECTIVE: </vt:lpstr>
      <vt:lpstr>DATASET STORY:</vt:lpstr>
      <vt:lpstr>ANALYSIS:</vt:lpstr>
      <vt:lpstr>KEY FINDINGS:</vt:lpstr>
      <vt:lpstr>BUSINESS INTERPRETATION:</vt:lpstr>
      <vt:lpstr>BUSINESS CONCLUSION:</vt:lpstr>
      <vt:lpstr>CALL TO ACTION: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Gargula Anushma</dc:creator>
  <cp:lastModifiedBy>Gargula Anushma</cp:lastModifiedBy>
  <cp:revision>1</cp:revision>
  <dcterms:created xsi:type="dcterms:W3CDTF">2026-04-01T07:10:43Z</dcterms:created>
  <dcterms:modified xsi:type="dcterms:W3CDTF">2026-04-01T07:19:55Z</dcterms:modified>
</cp:coreProperties>
</file>